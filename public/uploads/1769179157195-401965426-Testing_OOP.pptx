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mola Afolabi" userId="4d90c3cd9cf802ac" providerId="LiveId" clId="{97D116B4-0A6E-4FCE-BCEA-B0B75F50A204}"/>
    <pc:docChg chg="undo custSel addSld delSld modSld">
      <pc:chgData name="Ademola Afolabi" userId="4d90c3cd9cf802ac" providerId="LiveId" clId="{97D116B4-0A6E-4FCE-BCEA-B0B75F50A204}" dt="2025-05-14T11:55:52.745" v="1299" actId="20577"/>
      <pc:docMkLst>
        <pc:docMk/>
      </pc:docMkLst>
      <pc:sldChg chg="modSp">
        <pc:chgData name="Ademola Afolabi" userId="4d90c3cd9cf802ac" providerId="LiveId" clId="{97D116B4-0A6E-4FCE-BCEA-B0B75F50A204}" dt="2025-05-14T11:20:36.681" v="408"/>
        <pc:sldMkLst>
          <pc:docMk/>
          <pc:sldMk cId="1770662415" sldId="256"/>
        </pc:sldMkLst>
        <pc:spChg chg="mod">
          <ac:chgData name="Ademola Afolabi" userId="4d90c3cd9cf802ac" providerId="LiveId" clId="{97D116B4-0A6E-4FCE-BCEA-B0B75F50A204}" dt="2025-05-14T11:20:36.681" v="408"/>
          <ac:spMkLst>
            <pc:docMk/>
            <pc:sldMk cId="1770662415" sldId="256"/>
            <ac:spMk id="2" creationId="{AABF2D99-D509-0E3E-0145-BD7164565DF4}"/>
          </ac:spMkLst>
        </pc:spChg>
        <pc:spChg chg="mod">
          <ac:chgData name="Ademola Afolabi" userId="4d90c3cd9cf802ac" providerId="LiveId" clId="{97D116B4-0A6E-4FCE-BCEA-B0B75F50A204}" dt="2025-05-14T11:20:36.681" v="408"/>
          <ac:spMkLst>
            <pc:docMk/>
            <pc:sldMk cId="1770662415" sldId="256"/>
            <ac:spMk id="3" creationId="{75C37385-A22F-C643-B1F5-201527BBED39}"/>
          </ac:spMkLst>
        </pc:spChg>
      </pc:sldChg>
      <pc:sldChg chg="modSp">
        <pc:chgData name="Ademola Afolabi" userId="4d90c3cd9cf802ac" providerId="LiveId" clId="{97D116B4-0A6E-4FCE-BCEA-B0B75F50A204}" dt="2025-05-14T11:20:36.681" v="408"/>
        <pc:sldMkLst>
          <pc:docMk/>
          <pc:sldMk cId="709337056" sldId="257"/>
        </pc:sldMkLst>
        <pc:spChg chg="mod">
          <ac:chgData name="Ademola Afolabi" userId="4d90c3cd9cf802ac" providerId="LiveId" clId="{97D116B4-0A6E-4FCE-BCEA-B0B75F50A204}" dt="2025-05-14T11:20:36.681" v="408"/>
          <ac:spMkLst>
            <pc:docMk/>
            <pc:sldMk cId="709337056" sldId="257"/>
            <ac:spMk id="2" creationId="{9852164F-070D-E3FD-BCFF-80895EA1897C}"/>
          </ac:spMkLst>
        </pc:spChg>
      </pc:sldChg>
      <pc:sldChg chg="modSp">
        <pc:chgData name="Ademola Afolabi" userId="4d90c3cd9cf802ac" providerId="LiveId" clId="{97D116B4-0A6E-4FCE-BCEA-B0B75F50A204}" dt="2025-05-14T11:20:36.681" v="408"/>
        <pc:sldMkLst>
          <pc:docMk/>
          <pc:sldMk cId="1045706923" sldId="258"/>
        </pc:sldMkLst>
        <pc:spChg chg="mod">
          <ac:chgData name="Ademola Afolabi" userId="4d90c3cd9cf802ac" providerId="LiveId" clId="{97D116B4-0A6E-4FCE-BCEA-B0B75F50A204}" dt="2025-05-14T11:20:36.681" v="408"/>
          <ac:spMkLst>
            <pc:docMk/>
            <pc:sldMk cId="1045706923" sldId="258"/>
            <ac:spMk id="2" creationId="{54436240-8C5D-131B-1C19-F9412554FE79}"/>
          </ac:spMkLst>
        </pc:spChg>
        <pc:spChg chg="mod">
          <ac:chgData name="Ademola Afolabi" userId="4d90c3cd9cf802ac" providerId="LiveId" clId="{97D116B4-0A6E-4FCE-BCEA-B0B75F50A204}" dt="2025-05-14T11:20:36.681" v="408"/>
          <ac:spMkLst>
            <pc:docMk/>
            <pc:sldMk cId="1045706923" sldId="258"/>
            <ac:spMk id="3" creationId="{24DE4935-6E19-C7C9-9CE3-2AAA5554F6D3}"/>
          </ac:spMkLst>
        </pc:spChg>
      </pc:sldChg>
      <pc:sldChg chg="modSp mod">
        <pc:chgData name="Ademola Afolabi" userId="4d90c3cd9cf802ac" providerId="LiveId" clId="{97D116B4-0A6E-4FCE-BCEA-B0B75F50A204}" dt="2025-05-14T11:23:54.693" v="518" actId="12"/>
        <pc:sldMkLst>
          <pc:docMk/>
          <pc:sldMk cId="302910631" sldId="259"/>
        </pc:sldMkLst>
        <pc:spChg chg="mod">
          <ac:chgData name="Ademola Afolabi" userId="4d90c3cd9cf802ac" providerId="LiveId" clId="{97D116B4-0A6E-4FCE-BCEA-B0B75F50A204}" dt="2025-05-14T11:20:36.681" v="408"/>
          <ac:spMkLst>
            <pc:docMk/>
            <pc:sldMk cId="302910631" sldId="259"/>
            <ac:spMk id="2" creationId="{88DB8B42-B87D-C89E-F439-36E9F92BE75B}"/>
          </ac:spMkLst>
        </pc:spChg>
        <pc:spChg chg="mod">
          <ac:chgData name="Ademola Afolabi" userId="4d90c3cd9cf802ac" providerId="LiveId" clId="{97D116B4-0A6E-4FCE-BCEA-B0B75F50A204}" dt="2025-05-14T11:23:54.693" v="518" actId="12"/>
          <ac:spMkLst>
            <pc:docMk/>
            <pc:sldMk cId="302910631" sldId="259"/>
            <ac:spMk id="3" creationId="{3E0C48D2-1FC2-A67C-03D1-B6494B1C64B0}"/>
          </ac:spMkLst>
        </pc:spChg>
      </pc:sldChg>
      <pc:sldChg chg="modSp del mod">
        <pc:chgData name="Ademola Afolabi" userId="4d90c3cd9cf802ac" providerId="LiveId" clId="{97D116B4-0A6E-4FCE-BCEA-B0B75F50A204}" dt="2025-05-14T11:24:01.820" v="519" actId="2696"/>
        <pc:sldMkLst>
          <pc:docMk/>
          <pc:sldMk cId="3338450012" sldId="260"/>
        </pc:sldMkLst>
        <pc:spChg chg="mod">
          <ac:chgData name="Ademola Afolabi" userId="4d90c3cd9cf802ac" providerId="LiveId" clId="{97D116B4-0A6E-4FCE-BCEA-B0B75F50A204}" dt="2025-05-14T11:20:36.681" v="408"/>
          <ac:spMkLst>
            <pc:docMk/>
            <pc:sldMk cId="3338450012" sldId="260"/>
            <ac:spMk id="2" creationId="{CA6A3996-8430-08B3-B73E-6DEE8DB7FCA4}"/>
          </ac:spMkLst>
        </pc:spChg>
        <pc:spChg chg="mod">
          <ac:chgData name="Ademola Afolabi" userId="4d90c3cd9cf802ac" providerId="LiveId" clId="{97D116B4-0A6E-4FCE-BCEA-B0B75F50A204}" dt="2025-05-14T11:22:50.707" v="424" actId="12"/>
          <ac:spMkLst>
            <pc:docMk/>
            <pc:sldMk cId="3338450012" sldId="260"/>
            <ac:spMk id="3" creationId="{8A804E74-046F-EB53-0524-FE3254594E78}"/>
          </ac:spMkLst>
        </pc:spChg>
      </pc:sldChg>
      <pc:sldChg chg="modSp mod">
        <pc:chgData name="Ademola Afolabi" userId="4d90c3cd9cf802ac" providerId="LiveId" clId="{97D116B4-0A6E-4FCE-BCEA-B0B75F50A204}" dt="2025-05-14T11:47:18.964" v="829" actId="27636"/>
        <pc:sldMkLst>
          <pc:docMk/>
          <pc:sldMk cId="3081959294" sldId="261"/>
        </pc:sldMkLst>
        <pc:spChg chg="mod">
          <ac:chgData name="Ademola Afolabi" userId="4d90c3cd9cf802ac" providerId="LiveId" clId="{97D116B4-0A6E-4FCE-BCEA-B0B75F50A204}" dt="2025-05-14T11:20:36.681" v="408"/>
          <ac:spMkLst>
            <pc:docMk/>
            <pc:sldMk cId="3081959294" sldId="261"/>
            <ac:spMk id="2" creationId="{EF9C2657-B30F-C85E-8FC3-943DB4123229}"/>
          </ac:spMkLst>
        </pc:spChg>
        <pc:spChg chg="mod">
          <ac:chgData name="Ademola Afolabi" userId="4d90c3cd9cf802ac" providerId="LiveId" clId="{97D116B4-0A6E-4FCE-BCEA-B0B75F50A204}" dt="2025-05-14T11:47:18.964" v="829" actId="27636"/>
          <ac:spMkLst>
            <pc:docMk/>
            <pc:sldMk cId="3081959294" sldId="261"/>
            <ac:spMk id="3" creationId="{1A207C7C-2FA6-2440-DFEB-B500584D67D4}"/>
          </ac:spMkLst>
        </pc:spChg>
      </pc:sldChg>
      <pc:sldChg chg="modSp new mod">
        <pc:chgData name="Ademola Afolabi" userId="4d90c3cd9cf802ac" providerId="LiveId" clId="{97D116B4-0A6E-4FCE-BCEA-B0B75F50A204}" dt="2025-05-14T11:31:30.227" v="608" actId="20577"/>
        <pc:sldMkLst>
          <pc:docMk/>
          <pc:sldMk cId="3634697201" sldId="262"/>
        </pc:sldMkLst>
        <pc:spChg chg="mod">
          <ac:chgData name="Ademola Afolabi" userId="4d90c3cd9cf802ac" providerId="LiveId" clId="{97D116B4-0A6E-4FCE-BCEA-B0B75F50A204}" dt="2025-05-14T11:31:30.227" v="608" actId="20577"/>
          <ac:spMkLst>
            <pc:docMk/>
            <pc:sldMk cId="3634697201" sldId="262"/>
            <ac:spMk id="2" creationId="{59F19647-046E-6AB9-A16A-9B2E8F49AC49}"/>
          </ac:spMkLst>
        </pc:spChg>
        <pc:spChg chg="mod">
          <ac:chgData name="Ademola Afolabi" userId="4d90c3cd9cf802ac" providerId="LiveId" clId="{97D116B4-0A6E-4FCE-BCEA-B0B75F50A204}" dt="2025-05-14T11:21:45.048" v="420" actId="12"/>
          <ac:spMkLst>
            <pc:docMk/>
            <pc:sldMk cId="3634697201" sldId="262"/>
            <ac:spMk id="3" creationId="{BC05A089-AAD4-A33A-D4C8-2D935CC0DF21}"/>
          </ac:spMkLst>
        </pc:spChg>
      </pc:sldChg>
      <pc:sldChg chg="modSp new mod">
        <pc:chgData name="Ademola Afolabi" userId="4d90c3cd9cf802ac" providerId="LiveId" clId="{97D116B4-0A6E-4FCE-BCEA-B0B75F50A204}" dt="2025-05-14T11:31:24.129" v="596" actId="20577"/>
        <pc:sldMkLst>
          <pc:docMk/>
          <pc:sldMk cId="97457395" sldId="263"/>
        </pc:sldMkLst>
        <pc:spChg chg="mod">
          <ac:chgData name="Ademola Afolabi" userId="4d90c3cd9cf802ac" providerId="LiveId" clId="{97D116B4-0A6E-4FCE-BCEA-B0B75F50A204}" dt="2025-05-14T11:31:24.129" v="596" actId="20577"/>
          <ac:spMkLst>
            <pc:docMk/>
            <pc:sldMk cId="97457395" sldId="263"/>
            <ac:spMk id="2" creationId="{6F7F3BDD-A968-8D86-05B0-D9236B5522CC}"/>
          </ac:spMkLst>
        </pc:spChg>
        <pc:spChg chg="mod">
          <ac:chgData name="Ademola Afolabi" userId="4d90c3cd9cf802ac" providerId="LiveId" clId="{97D116B4-0A6E-4FCE-BCEA-B0B75F50A204}" dt="2025-05-14T11:28:54.414" v="576" actId="27636"/>
          <ac:spMkLst>
            <pc:docMk/>
            <pc:sldMk cId="97457395" sldId="263"/>
            <ac:spMk id="3" creationId="{E2521909-5306-9BE1-09E1-408FCCA1425A}"/>
          </ac:spMkLst>
        </pc:spChg>
      </pc:sldChg>
      <pc:sldChg chg="modSp new mod">
        <pc:chgData name="Ademola Afolabi" userId="4d90c3cd9cf802ac" providerId="LiveId" clId="{97D116B4-0A6E-4FCE-BCEA-B0B75F50A204}" dt="2025-05-14T11:47:27.047" v="832" actId="20577"/>
        <pc:sldMkLst>
          <pc:docMk/>
          <pc:sldMk cId="3283782362" sldId="264"/>
        </pc:sldMkLst>
        <pc:spChg chg="mod">
          <ac:chgData name="Ademola Afolabi" userId="4d90c3cd9cf802ac" providerId="LiveId" clId="{97D116B4-0A6E-4FCE-BCEA-B0B75F50A204}" dt="2025-05-14T11:42:43.300" v="805" actId="20577"/>
          <ac:spMkLst>
            <pc:docMk/>
            <pc:sldMk cId="3283782362" sldId="264"/>
            <ac:spMk id="2" creationId="{D569CB07-705E-5D24-D477-B53A66F1A2B5}"/>
          </ac:spMkLst>
        </pc:spChg>
        <pc:spChg chg="mod">
          <ac:chgData name="Ademola Afolabi" userId="4d90c3cd9cf802ac" providerId="LiveId" clId="{97D116B4-0A6E-4FCE-BCEA-B0B75F50A204}" dt="2025-05-14T11:47:27.047" v="832" actId="20577"/>
          <ac:spMkLst>
            <pc:docMk/>
            <pc:sldMk cId="3283782362" sldId="264"/>
            <ac:spMk id="3" creationId="{68B1721D-BA1F-973D-B06D-8AF2FDF9C949}"/>
          </ac:spMkLst>
        </pc:spChg>
      </pc:sldChg>
      <pc:sldChg chg="modSp new mod">
        <pc:chgData name="Ademola Afolabi" userId="4d90c3cd9cf802ac" providerId="LiveId" clId="{97D116B4-0A6E-4FCE-BCEA-B0B75F50A204}" dt="2025-05-14T11:55:52.745" v="1299" actId="20577"/>
        <pc:sldMkLst>
          <pc:docMk/>
          <pc:sldMk cId="2841974818" sldId="265"/>
        </pc:sldMkLst>
        <pc:spChg chg="mod">
          <ac:chgData name="Ademola Afolabi" userId="4d90c3cd9cf802ac" providerId="LiveId" clId="{97D116B4-0A6E-4FCE-BCEA-B0B75F50A204}" dt="2025-05-14T11:55:52.745" v="1299" actId="20577"/>
          <ac:spMkLst>
            <pc:docMk/>
            <pc:sldMk cId="2841974818" sldId="265"/>
            <ac:spMk id="2" creationId="{E1DC668B-8A8C-46D5-EFD8-B3A146A48984}"/>
          </ac:spMkLst>
        </pc:spChg>
        <pc:spChg chg="mod">
          <ac:chgData name="Ademola Afolabi" userId="4d90c3cd9cf802ac" providerId="LiveId" clId="{97D116B4-0A6E-4FCE-BCEA-B0B75F50A204}" dt="2025-05-14T11:48:51.870" v="858" actId="20577"/>
          <ac:spMkLst>
            <pc:docMk/>
            <pc:sldMk cId="2841974818" sldId="265"/>
            <ac:spMk id="3" creationId="{272F101E-461D-45E4-A5B2-F19E336F5E8B}"/>
          </ac:spMkLst>
        </pc:spChg>
      </pc:sldChg>
      <pc:sldChg chg="modSp new mod">
        <pc:chgData name="Ademola Afolabi" userId="4d90c3cd9cf802ac" providerId="LiveId" clId="{97D116B4-0A6E-4FCE-BCEA-B0B75F50A204}" dt="2025-05-14T11:55:23.294" v="1274" actId="20577"/>
        <pc:sldMkLst>
          <pc:docMk/>
          <pc:sldMk cId="2916352476" sldId="266"/>
        </pc:sldMkLst>
        <pc:spChg chg="mod">
          <ac:chgData name="Ademola Afolabi" userId="4d90c3cd9cf802ac" providerId="LiveId" clId="{97D116B4-0A6E-4FCE-BCEA-B0B75F50A204}" dt="2025-05-14T11:51:27.319" v="948" actId="20577"/>
          <ac:spMkLst>
            <pc:docMk/>
            <pc:sldMk cId="2916352476" sldId="266"/>
            <ac:spMk id="2" creationId="{7503B64B-C559-2A40-E6A5-9C022FAE516A}"/>
          </ac:spMkLst>
        </pc:spChg>
        <pc:spChg chg="mod">
          <ac:chgData name="Ademola Afolabi" userId="4d90c3cd9cf802ac" providerId="LiveId" clId="{97D116B4-0A6E-4FCE-BCEA-B0B75F50A204}" dt="2025-05-14T11:55:23.294" v="1274" actId="20577"/>
          <ac:spMkLst>
            <pc:docMk/>
            <pc:sldMk cId="2916352476" sldId="266"/>
            <ac:spMk id="3" creationId="{8084081F-CF20-A87B-0A2E-D079DB3F248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114E99D-DCB9-418A-90C4-B85C4A2B3E95}" type="datetimeFigureOut">
              <a:rPr lang="en-NG" smtClean="0"/>
              <a:t>14/05/2025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E535BDE8-D0C9-4AA8-B247-AED9449CA400}" type="slidenum">
              <a:rPr lang="en-NG" smtClean="0"/>
              <a:t>‹#›</a:t>
            </a:fld>
            <a:endParaRPr lang="en-NG"/>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24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14E99D-DCB9-418A-90C4-B85C4A2B3E95}" type="datetimeFigureOut">
              <a:rPr lang="en-NG" smtClean="0"/>
              <a:t>14/05/2025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E535BDE8-D0C9-4AA8-B247-AED9449CA400}" type="slidenum">
              <a:rPr lang="en-NG" smtClean="0"/>
              <a:t>‹#›</a:t>
            </a:fld>
            <a:endParaRPr lang="en-NG"/>
          </a:p>
        </p:txBody>
      </p:sp>
    </p:spTree>
    <p:extLst>
      <p:ext uri="{BB962C8B-B14F-4D97-AF65-F5344CB8AC3E}">
        <p14:creationId xmlns:p14="http://schemas.microsoft.com/office/powerpoint/2010/main" val="51639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14E99D-DCB9-418A-90C4-B85C4A2B3E95}" type="datetimeFigureOut">
              <a:rPr lang="en-NG" smtClean="0"/>
              <a:t>14/05/2025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E535BDE8-D0C9-4AA8-B247-AED9449CA400}" type="slidenum">
              <a:rPr lang="en-NG" smtClean="0"/>
              <a:t>‹#›</a:t>
            </a:fld>
            <a:endParaRPr lang="en-NG"/>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76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14E99D-DCB9-418A-90C4-B85C4A2B3E95}" type="datetimeFigureOut">
              <a:rPr lang="en-NG" smtClean="0"/>
              <a:t>14/05/2025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E535BDE8-D0C9-4AA8-B247-AED9449CA400}" type="slidenum">
              <a:rPr lang="en-NG" smtClean="0"/>
              <a:t>‹#›</a:t>
            </a:fld>
            <a:endParaRPr lang="en-NG"/>
          </a:p>
        </p:txBody>
      </p:sp>
    </p:spTree>
    <p:extLst>
      <p:ext uri="{BB962C8B-B14F-4D97-AF65-F5344CB8AC3E}">
        <p14:creationId xmlns:p14="http://schemas.microsoft.com/office/powerpoint/2010/main" val="10996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14E99D-DCB9-418A-90C4-B85C4A2B3E95}" type="datetimeFigureOut">
              <a:rPr lang="en-NG" smtClean="0"/>
              <a:t>14/05/2025</a:t>
            </a:fld>
            <a:endParaRPr lang="en-NG"/>
          </a:p>
        </p:txBody>
      </p:sp>
      <p:sp>
        <p:nvSpPr>
          <p:cNvPr id="8" name="Footer Placeholder 7"/>
          <p:cNvSpPr>
            <a:spLocks noGrp="1"/>
          </p:cNvSpPr>
          <p:nvPr>
            <p:ph type="ftr" sz="quarter" idx="11"/>
          </p:nvPr>
        </p:nvSpPr>
        <p:spPr/>
        <p:txBody>
          <a:bodyPr/>
          <a:lstStyle/>
          <a:p>
            <a:endParaRPr lang="en-NG"/>
          </a:p>
        </p:txBody>
      </p:sp>
      <p:sp>
        <p:nvSpPr>
          <p:cNvPr id="9" name="Slide Number Placeholder 8"/>
          <p:cNvSpPr>
            <a:spLocks noGrp="1"/>
          </p:cNvSpPr>
          <p:nvPr>
            <p:ph type="sldNum" sz="quarter" idx="12"/>
          </p:nvPr>
        </p:nvSpPr>
        <p:spPr/>
        <p:txBody>
          <a:bodyPr/>
          <a:lstStyle/>
          <a:p>
            <a:fld id="{E535BDE8-D0C9-4AA8-B247-AED9449CA400}" type="slidenum">
              <a:rPr lang="en-NG" smtClean="0"/>
              <a:t>‹#›</a:t>
            </a:fld>
            <a:endParaRPr lang="en-NG"/>
          </a:p>
        </p:txBody>
      </p:sp>
    </p:spTree>
    <p:extLst>
      <p:ext uri="{BB962C8B-B14F-4D97-AF65-F5344CB8AC3E}">
        <p14:creationId xmlns:p14="http://schemas.microsoft.com/office/powerpoint/2010/main" val="3349861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14E99D-DCB9-418A-90C4-B85C4A2B3E95}" type="datetimeFigureOut">
              <a:rPr lang="en-NG" smtClean="0"/>
              <a:t>14/05/2025</a:t>
            </a:fld>
            <a:endParaRPr lang="en-NG"/>
          </a:p>
        </p:txBody>
      </p:sp>
      <p:sp>
        <p:nvSpPr>
          <p:cNvPr id="4" name="Footer Placeholder 3"/>
          <p:cNvSpPr>
            <a:spLocks noGrp="1"/>
          </p:cNvSpPr>
          <p:nvPr>
            <p:ph type="ftr" sz="quarter" idx="11"/>
          </p:nvPr>
        </p:nvSpPr>
        <p:spPr/>
        <p:txBody>
          <a:bodyPr/>
          <a:lstStyle/>
          <a:p>
            <a:endParaRPr lang="en-NG"/>
          </a:p>
        </p:txBody>
      </p:sp>
      <p:sp>
        <p:nvSpPr>
          <p:cNvPr id="5" name="Slide Number Placeholder 4"/>
          <p:cNvSpPr>
            <a:spLocks noGrp="1"/>
          </p:cNvSpPr>
          <p:nvPr>
            <p:ph type="sldNum" sz="quarter" idx="12"/>
          </p:nvPr>
        </p:nvSpPr>
        <p:spPr/>
        <p:txBody>
          <a:bodyPr/>
          <a:lstStyle/>
          <a:p>
            <a:fld id="{E535BDE8-D0C9-4AA8-B247-AED9449CA400}" type="slidenum">
              <a:rPr lang="en-NG" smtClean="0"/>
              <a:t>‹#›</a:t>
            </a:fld>
            <a:endParaRPr lang="en-NG"/>
          </a:p>
        </p:txBody>
      </p:sp>
    </p:spTree>
    <p:extLst>
      <p:ext uri="{BB962C8B-B14F-4D97-AF65-F5344CB8AC3E}">
        <p14:creationId xmlns:p14="http://schemas.microsoft.com/office/powerpoint/2010/main" val="1683955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14E99D-DCB9-418A-90C4-B85C4A2B3E95}" type="datetimeFigureOut">
              <a:rPr lang="en-NG" smtClean="0"/>
              <a:t>14/05/2025</a:t>
            </a:fld>
            <a:endParaRPr lang="en-NG"/>
          </a:p>
        </p:txBody>
      </p:sp>
      <p:sp>
        <p:nvSpPr>
          <p:cNvPr id="3" name="Footer Placeholder 2"/>
          <p:cNvSpPr>
            <a:spLocks noGrp="1"/>
          </p:cNvSpPr>
          <p:nvPr>
            <p:ph type="ftr" sz="quarter" idx="11"/>
          </p:nvPr>
        </p:nvSpPr>
        <p:spPr/>
        <p:txBody>
          <a:bodyPr/>
          <a:lstStyle/>
          <a:p>
            <a:endParaRPr lang="en-NG"/>
          </a:p>
        </p:txBody>
      </p:sp>
      <p:sp>
        <p:nvSpPr>
          <p:cNvPr id="4" name="Slide Number Placeholder 3"/>
          <p:cNvSpPr>
            <a:spLocks noGrp="1"/>
          </p:cNvSpPr>
          <p:nvPr>
            <p:ph type="sldNum" sz="quarter" idx="12"/>
          </p:nvPr>
        </p:nvSpPr>
        <p:spPr/>
        <p:txBody>
          <a:bodyPr/>
          <a:lstStyle/>
          <a:p>
            <a:fld id="{E535BDE8-D0C9-4AA8-B247-AED9449CA400}" type="slidenum">
              <a:rPr lang="en-NG" smtClean="0"/>
              <a:t>‹#›</a:t>
            </a:fld>
            <a:endParaRPr lang="en-NG"/>
          </a:p>
        </p:txBody>
      </p:sp>
    </p:spTree>
    <p:extLst>
      <p:ext uri="{BB962C8B-B14F-4D97-AF65-F5344CB8AC3E}">
        <p14:creationId xmlns:p14="http://schemas.microsoft.com/office/powerpoint/2010/main" val="275430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14E99D-DCB9-418A-90C4-B85C4A2B3E95}" type="datetimeFigureOut">
              <a:rPr lang="en-NG" smtClean="0"/>
              <a:t>14/05/2025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E535BDE8-D0C9-4AA8-B247-AED9449CA400}" type="slidenum">
              <a:rPr lang="en-NG" smtClean="0"/>
              <a:t>‹#›</a:t>
            </a:fld>
            <a:endParaRPr lang="en-NG"/>
          </a:p>
        </p:txBody>
      </p:sp>
    </p:spTree>
    <p:extLst>
      <p:ext uri="{BB962C8B-B14F-4D97-AF65-F5344CB8AC3E}">
        <p14:creationId xmlns:p14="http://schemas.microsoft.com/office/powerpoint/2010/main" val="2852118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14E99D-DCB9-418A-90C4-B85C4A2B3E95}" type="datetimeFigureOut">
              <a:rPr lang="en-NG" smtClean="0"/>
              <a:t>14/05/2025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E535BDE8-D0C9-4AA8-B247-AED9449CA400}" type="slidenum">
              <a:rPr lang="en-NG" smtClean="0"/>
              <a:t>‹#›</a:t>
            </a:fld>
            <a:endParaRPr lang="en-NG"/>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751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14E99D-DCB9-418A-90C4-B85C4A2B3E95}" type="datetimeFigureOut">
              <a:rPr lang="en-NG" smtClean="0"/>
              <a:t>14/05/2025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E535BDE8-D0C9-4AA8-B247-AED9449CA400}" type="slidenum">
              <a:rPr lang="en-NG" smtClean="0"/>
              <a:t>‹#›</a:t>
            </a:fld>
            <a:endParaRPr lang="en-NG"/>
          </a:p>
        </p:txBody>
      </p:sp>
    </p:spTree>
    <p:extLst>
      <p:ext uri="{BB962C8B-B14F-4D97-AF65-F5344CB8AC3E}">
        <p14:creationId xmlns:p14="http://schemas.microsoft.com/office/powerpoint/2010/main" val="2350599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14E99D-DCB9-418A-90C4-B85C4A2B3E95}" type="datetimeFigureOut">
              <a:rPr lang="en-NG" smtClean="0"/>
              <a:t>14/05/2025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E535BDE8-D0C9-4AA8-B247-AED9449CA400}" type="slidenum">
              <a:rPr lang="en-NG" smtClean="0"/>
              <a:t>‹#›</a:t>
            </a:fld>
            <a:endParaRPr lang="en-NG"/>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824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114E99D-DCB9-418A-90C4-B85C4A2B3E95}" type="datetimeFigureOut">
              <a:rPr lang="en-NG" smtClean="0"/>
              <a:t>14/05/2025</a:t>
            </a:fld>
            <a:endParaRPr lang="en-NG"/>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NG"/>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535BDE8-D0C9-4AA8-B247-AED9449CA400}" type="slidenum">
              <a:rPr lang="en-NG" smtClean="0"/>
              <a:t>‹#›</a:t>
            </a:fld>
            <a:endParaRPr lang="en-NG"/>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642367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F2D99-D509-0E3E-0145-BD7164565DF4}"/>
              </a:ext>
            </a:extLst>
          </p:cNvPr>
          <p:cNvSpPr>
            <a:spLocks noGrp="1"/>
          </p:cNvSpPr>
          <p:nvPr>
            <p:ph type="ctrTitle"/>
          </p:nvPr>
        </p:nvSpPr>
        <p:spPr/>
        <p:txBody>
          <a:bodyPr/>
          <a:lstStyle/>
          <a:p>
            <a:r>
              <a:rPr lang="en-US" dirty="0"/>
              <a:t>Testing OOP</a:t>
            </a:r>
            <a:endParaRPr lang="en-NG" dirty="0"/>
          </a:p>
        </p:txBody>
      </p:sp>
      <p:sp>
        <p:nvSpPr>
          <p:cNvPr id="3" name="Subtitle 2">
            <a:extLst>
              <a:ext uri="{FF2B5EF4-FFF2-40B4-BE49-F238E27FC236}">
                <a16:creationId xmlns:a16="http://schemas.microsoft.com/office/drawing/2014/main" id="{75C37385-A22F-C643-B1F5-201527BBED39}"/>
              </a:ext>
            </a:extLst>
          </p:cNvPr>
          <p:cNvSpPr>
            <a:spLocks noGrp="1"/>
          </p:cNvSpPr>
          <p:nvPr>
            <p:ph type="subTitle" idx="1"/>
          </p:nvPr>
        </p:nvSpPr>
        <p:spPr/>
        <p:txBody>
          <a:bodyPr/>
          <a:lstStyle/>
          <a:p>
            <a:pPr algn="l"/>
            <a:r>
              <a:rPr lang="en-US" dirty="0"/>
              <a:t>Ademola Abdulsamad Afolabi</a:t>
            </a:r>
          </a:p>
          <a:p>
            <a:pPr algn="l"/>
            <a:r>
              <a:rPr lang="en-US" dirty="0"/>
              <a:t>20232247</a:t>
            </a:r>
            <a:endParaRPr lang="en-NG" dirty="0"/>
          </a:p>
        </p:txBody>
      </p:sp>
    </p:spTree>
    <p:extLst>
      <p:ext uri="{BB962C8B-B14F-4D97-AF65-F5344CB8AC3E}">
        <p14:creationId xmlns:p14="http://schemas.microsoft.com/office/powerpoint/2010/main" val="1770662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2164F-070D-E3FD-BCFF-80895EA1897C}"/>
              </a:ext>
            </a:extLst>
          </p:cNvPr>
          <p:cNvSpPr>
            <a:spLocks noGrp="1"/>
          </p:cNvSpPr>
          <p:nvPr>
            <p:ph type="title"/>
          </p:nvPr>
        </p:nvSpPr>
        <p:spPr/>
        <p:txBody>
          <a:bodyPr/>
          <a:lstStyle/>
          <a:p>
            <a:r>
              <a:rPr lang="en-US" dirty="0"/>
              <a:t>Introduction</a:t>
            </a:r>
            <a:endParaRPr lang="en-NG" dirty="0"/>
          </a:p>
        </p:txBody>
      </p:sp>
      <p:sp>
        <p:nvSpPr>
          <p:cNvPr id="3" name="Content Placeholder 2">
            <a:extLst>
              <a:ext uri="{FF2B5EF4-FFF2-40B4-BE49-F238E27FC236}">
                <a16:creationId xmlns:a16="http://schemas.microsoft.com/office/drawing/2014/main" id="{F5D46295-750B-FB5C-6A55-0258F716FE1E}"/>
              </a:ext>
            </a:extLst>
          </p:cNvPr>
          <p:cNvSpPr>
            <a:spLocks noGrp="1"/>
          </p:cNvSpPr>
          <p:nvPr>
            <p:ph idx="1"/>
          </p:nvPr>
        </p:nvSpPr>
        <p:spPr>
          <a:xfrm>
            <a:off x="677334" y="1583703"/>
            <a:ext cx="8596668" cy="4457659"/>
          </a:xfrm>
        </p:spPr>
        <p:txBody>
          <a:bodyPr>
            <a:normAutofit/>
          </a:bodyPr>
          <a:lstStyle/>
          <a:p>
            <a:r>
              <a:rPr lang="en-US" dirty="0"/>
              <a:t>Software testing occurs at multiple levels, progressing from unit testing, where individual code modules are tested in isolation to verify their internal logic, to system or acceptance testing, which evaluates the entire system (or subsystems) to ensure it meets functional requirements and behaves as expected from an external perspective. Unit testing focuses on code correctness, while higher-level testing prioritizes overall functionality and user-facing outcomes.</a:t>
            </a:r>
          </a:p>
          <a:p>
            <a:r>
              <a:rPr lang="en-US" dirty="0"/>
              <a:t>Testing object-oriented classes poses challenges compared to conventional testing due to the lack of defined behavior. Also due to its need of interaction between methods it requires focus on inheritance, polymorphism etc. rather than simply input and output alone.</a:t>
            </a:r>
            <a:endParaRPr lang="en-NG" dirty="0"/>
          </a:p>
        </p:txBody>
      </p:sp>
    </p:spTree>
    <p:extLst>
      <p:ext uri="{BB962C8B-B14F-4D97-AF65-F5344CB8AC3E}">
        <p14:creationId xmlns:p14="http://schemas.microsoft.com/office/powerpoint/2010/main" val="709337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36240-8C5D-131B-1C19-F9412554FE79}"/>
              </a:ext>
            </a:extLst>
          </p:cNvPr>
          <p:cNvSpPr>
            <a:spLocks noGrp="1"/>
          </p:cNvSpPr>
          <p:nvPr>
            <p:ph type="title"/>
          </p:nvPr>
        </p:nvSpPr>
        <p:spPr/>
        <p:txBody>
          <a:bodyPr/>
          <a:lstStyle/>
          <a:p>
            <a:r>
              <a:rPr lang="en-US" dirty="0"/>
              <a:t>Cont.</a:t>
            </a:r>
            <a:endParaRPr lang="en-NG" dirty="0"/>
          </a:p>
        </p:txBody>
      </p:sp>
      <p:sp>
        <p:nvSpPr>
          <p:cNvPr id="3" name="Content Placeholder 2">
            <a:extLst>
              <a:ext uri="{FF2B5EF4-FFF2-40B4-BE49-F238E27FC236}">
                <a16:creationId xmlns:a16="http://schemas.microsoft.com/office/drawing/2014/main" id="{24DE4935-6E19-C7C9-9CE3-2AAA5554F6D3}"/>
              </a:ext>
            </a:extLst>
          </p:cNvPr>
          <p:cNvSpPr>
            <a:spLocks noGrp="1"/>
          </p:cNvSpPr>
          <p:nvPr>
            <p:ph idx="1"/>
          </p:nvPr>
        </p:nvSpPr>
        <p:spPr/>
        <p:txBody>
          <a:bodyPr/>
          <a:lstStyle/>
          <a:p>
            <a:r>
              <a:rPr lang="en-US" dirty="0"/>
              <a:t>The primary goal of software testing is to maximize error detection efficiently, within practical effort and time limits. While reusable class libraries might seem to reduce the need for extensive testing in object-oriented (OO) systems, each reuse introduces a new context of usage, where existing components may behave unpredictably. This necessitates retesting to ensure reliability, as dependencies, interactions, or environmental factors can vary. Consequently, achieving high reliability in OO systems likely requires more testing, not less, to validate components across diverse scenarios and mitigate risks from reused code in unfamiliar contexts.</a:t>
            </a:r>
          </a:p>
          <a:p>
            <a:endParaRPr lang="en-NG" dirty="0"/>
          </a:p>
        </p:txBody>
      </p:sp>
    </p:spTree>
    <p:extLst>
      <p:ext uri="{BB962C8B-B14F-4D97-AF65-F5344CB8AC3E}">
        <p14:creationId xmlns:p14="http://schemas.microsoft.com/office/powerpoint/2010/main" val="1045706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B8B42-B87D-C89E-F439-36E9F92BE75B}"/>
              </a:ext>
            </a:extLst>
          </p:cNvPr>
          <p:cNvSpPr>
            <a:spLocks noGrp="1"/>
          </p:cNvSpPr>
          <p:nvPr>
            <p:ph type="title"/>
          </p:nvPr>
        </p:nvSpPr>
        <p:spPr/>
        <p:txBody>
          <a:bodyPr/>
          <a:lstStyle/>
          <a:p>
            <a:endParaRPr lang="en-NG" dirty="0"/>
          </a:p>
        </p:txBody>
      </p:sp>
      <p:sp>
        <p:nvSpPr>
          <p:cNvPr id="3" name="Content Placeholder 2">
            <a:extLst>
              <a:ext uri="{FF2B5EF4-FFF2-40B4-BE49-F238E27FC236}">
                <a16:creationId xmlns:a16="http://schemas.microsoft.com/office/drawing/2014/main" id="{3E0C48D2-1FC2-A67C-03D1-B6494B1C64B0}"/>
              </a:ext>
            </a:extLst>
          </p:cNvPr>
          <p:cNvSpPr>
            <a:spLocks noGrp="1"/>
          </p:cNvSpPr>
          <p:nvPr>
            <p:ph idx="1"/>
          </p:nvPr>
        </p:nvSpPr>
        <p:spPr/>
        <p:txBody>
          <a:bodyPr numCol="2">
            <a:normAutofit fontScale="85000" lnSpcReduction="20000"/>
          </a:bodyPr>
          <a:lstStyle/>
          <a:p>
            <a:pPr lvl="1">
              <a:buFont typeface="Wingdings" panose="05000000000000000000" pitchFamily="2" charset="2"/>
              <a:buChar char="Ø"/>
            </a:pPr>
            <a:r>
              <a:rPr lang="en-US" sz="2000" dirty="0"/>
              <a:t>What is Testing OOP?</a:t>
            </a:r>
          </a:p>
          <a:p>
            <a:pPr marL="457200" lvl="1" indent="0">
              <a:buNone/>
            </a:pPr>
            <a:r>
              <a:rPr lang="en-US" sz="2000" dirty="0"/>
              <a:t>Object-Oriented testing is a specialized approach to verifying and validating software built using object-oriented programming (OOP) principles.</a:t>
            </a:r>
          </a:p>
          <a:p>
            <a:pPr lvl="1">
              <a:buFont typeface="Wingdings" panose="05000000000000000000" pitchFamily="2" charset="2"/>
              <a:buChar char="Ø"/>
            </a:pPr>
            <a:r>
              <a:rPr lang="en-US" sz="2000" dirty="0"/>
              <a:t>Who does it?</a:t>
            </a:r>
          </a:p>
          <a:p>
            <a:pPr marL="457200" lvl="1" indent="0">
              <a:buNone/>
            </a:pPr>
            <a:r>
              <a:rPr lang="en-US" sz="2000" dirty="0"/>
              <a:t>Object-oriented testing is performed by software engineers and testing specialists.</a:t>
            </a:r>
          </a:p>
          <a:p>
            <a:pPr lvl="1">
              <a:buFont typeface="Wingdings" panose="05000000000000000000" pitchFamily="2" charset="2"/>
              <a:buChar char="Ø"/>
            </a:pPr>
            <a:r>
              <a:rPr lang="en-US" sz="2000" dirty="0"/>
              <a:t>Why is it important?</a:t>
            </a:r>
          </a:p>
          <a:p>
            <a:pPr marL="457200" lvl="1" indent="0">
              <a:buNone/>
            </a:pPr>
            <a:r>
              <a:rPr lang="en-US" sz="2000" dirty="0"/>
              <a:t>Object-oriented testing is critical because it ensures that the software is reliable, error-free, and meets user expectations before reaching the customer.</a:t>
            </a:r>
          </a:p>
          <a:p>
            <a:pPr marL="457200" lvl="1" indent="0">
              <a:buNone/>
            </a:pPr>
            <a:endParaRPr lang="en-US" sz="2000" dirty="0"/>
          </a:p>
          <a:p>
            <a:pPr marL="457200" lvl="1" indent="0">
              <a:buNone/>
            </a:pPr>
            <a:endParaRPr lang="en-US" sz="2000" dirty="0"/>
          </a:p>
          <a:p>
            <a:pPr marL="457200" lvl="1" indent="0">
              <a:buNone/>
            </a:pPr>
            <a:endParaRPr lang="en-US" sz="2000" dirty="0"/>
          </a:p>
          <a:p>
            <a:pPr marL="457200" lvl="1" indent="0">
              <a:buNone/>
            </a:pPr>
            <a:endParaRPr lang="en-US" sz="2000" dirty="0"/>
          </a:p>
          <a:p>
            <a:pPr marL="457200" lvl="1" indent="0">
              <a:buNone/>
            </a:pPr>
            <a:endParaRPr lang="en-US" sz="2000" dirty="0"/>
          </a:p>
          <a:p>
            <a:pPr>
              <a:buFont typeface="Wingdings" panose="05000000000000000000" pitchFamily="2" charset="2"/>
              <a:buChar char="Ø"/>
            </a:pPr>
            <a:r>
              <a:rPr lang="en-US" sz="2300" dirty="0"/>
              <a:t>Here are the steps to OO testing: </a:t>
            </a:r>
          </a:p>
          <a:p>
            <a:pPr marL="0" indent="0">
              <a:buNone/>
            </a:pPr>
            <a:r>
              <a:rPr lang="en-US" sz="2300" dirty="0"/>
              <a:t>Model Review, Class Testing, Interaction Testing, Integration Testing, System Validation.</a:t>
            </a:r>
          </a:p>
          <a:p>
            <a:pPr>
              <a:buFont typeface="Wingdings" panose="05000000000000000000" pitchFamily="2" charset="2"/>
              <a:buChar char="Ø"/>
            </a:pPr>
            <a:r>
              <a:rPr lang="en-US" sz="2300" dirty="0"/>
              <a:t>What is the work product?: </a:t>
            </a:r>
          </a:p>
          <a:p>
            <a:pPr marL="0" indent="0">
              <a:buNone/>
            </a:pPr>
            <a:r>
              <a:rPr lang="en-US" sz="2300" dirty="0"/>
              <a:t>A set of test cases, designed to exercise classes, their collaboration, and behavior.</a:t>
            </a:r>
          </a:p>
          <a:p>
            <a:pPr>
              <a:buFont typeface="Wingdings" panose="05000000000000000000" pitchFamily="2" charset="2"/>
              <a:buChar char="Ø"/>
            </a:pPr>
            <a:r>
              <a:rPr lang="en-US" sz="2300" dirty="0"/>
              <a:t>How to ensure I’ve done it right?:</a:t>
            </a:r>
          </a:p>
          <a:p>
            <a:pPr marL="0" indent="0">
              <a:buNone/>
            </a:pPr>
            <a:r>
              <a:rPr lang="en-US" sz="2300" dirty="0"/>
              <a:t>Have an open and disciplined mind when designing test cases and review them thoroughly.</a:t>
            </a:r>
          </a:p>
          <a:p>
            <a:pPr marL="0" indent="0">
              <a:buNone/>
            </a:pPr>
            <a:endParaRPr lang="en-US" sz="2800" dirty="0"/>
          </a:p>
          <a:p>
            <a:pPr marL="0" indent="0">
              <a:buNone/>
            </a:pPr>
            <a:endParaRPr lang="en-NG" sz="2800" dirty="0"/>
          </a:p>
          <a:p>
            <a:pPr marL="457200" lvl="1" indent="0">
              <a:buNone/>
            </a:pPr>
            <a:endParaRPr lang="en-US" sz="2000" dirty="0"/>
          </a:p>
        </p:txBody>
      </p:sp>
    </p:spTree>
    <p:extLst>
      <p:ext uri="{BB962C8B-B14F-4D97-AF65-F5344CB8AC3E}">
        <p14:creationId xmlns:p14="http://schemas.microsoft.com/office/powerpoint/2010/main" val="302910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C2657-B30F-C85E-8FC3-943DB4123229}"/>
              </a:ext>
            </a:extLst>
          </p:cNvPr>
          <p:cNvSpPr>
            <a:spLocks noGrp="1"/>
          </p:cNvSpPr>
          <p:nvPr>
            <p:ph type="title"/>
          </p:nvPr>
        </p:nvSpPr>
        <p:spPr/>
        <p:txBody>
          <a:bodyPr/>
          <a:lstStyle/>
          <a:p>
            <a:r>
              <a:rPr lang="en-US" dirty="0"/>
              <a:t>Testing OOD and OOA and correctness</a:t>
            </a:r>
            <a:endParaRPr lang="en-NG" dirty="0"/>
          </a:p>
        </p:txBody>
      </p:sp>
      <p:sp>
        <p:nvSpPr>
          <p:cNvPr id="3" name="Content Placeholder 2">
            <a:extLst>
              <a:ext uri="{FF2B5EF4-FFF2-40B4-BE49-F238E27FC236}">
                <a16:creationId xmlns:a16="http://schemas.microsoft.com/office/drawing/2014/main" id="{1A207C7C-2FA6-2440-DFEB-B500584D67D4}"/>
              </a:ext>
            </a:extLst>
          </p:cNvPr>
          <p:cNvSpPr>
            <a:spLocks noGrp="1"/>
          </p:cNvSpPr>
          <p:nvPr>
            <p:ph idx="1"/>
          </p:nvPr>
        </p:nvSpPr>
        <p:spPr/>
        <p:txBody>
          <a:bodyPr numCol="2">
            <a:normAutofit fontScale="92500" lnSpcReduction="20000"/>
          </a:bodyPr>
          <a:lstStyle/>
          <a:p>
            <a:r>
              <a:rPr lang="en-US" dirty="0"/>
              <a:t>Testing OOA and OOD:</a:t>
            </a:r>
          </a:p>
          <a:p>
            <a:pPr>
              <a:buFont typeface="Wingdings" panose="05000000000000000000" pitchFamily="2" charset="2"/>
              <a:buChar char="Ø"/>
            </a:pPr>
            <a:r>
              <a:rPr lang="en-US" dirty="0"/>
              <a:t>The definition and strategy of testing as well as the design of test cases are key for testing OO systems.</a:t>
            </a:r>
          </a:p>
          <a:p>
            <a:pPr>
              <a:buFont typeface="Wingdings" panose="05000000000000000000" pitchFamily="2" charset="2"/>
              <a:buChar char="Ø"/>
            </a:pPr>
            <a:r>
              <a:rPr lang="en-US" dirty="0"/>
              <a:t> Non-Executable Models- Cannot be tested conventionally</a:t>
            </a:r>
          </a:p>
          <a:p>
            <a:pPr>
              <a:buFont typeface="Wingdings" panose="05000000000000000000" pitchFamily="2" charset="2"/>
              <a:buChar char="Ø"/>
            </a:pPr>
            <a:r>
              <a:rPr lang="en-US" dirty="0"/>
              <a:t> Technical Reviews- Primary method for verification:</a:t>
            </a:r>
          </a:p>
          <a:p>
            <a:pPr marL="0" indent="0">
              <a:buNone/>
            </a:pPr>
            <a:r>
              <a:rPr lang="en-US" dirty="0"/>
              <a:t>Correctness (logic/design),Consistency (across models)</a:t>
            </a:r>
          </a:p>
          <a:p>
            <a:pPr marL="0" indent="0">
              <a:buNone/>
            </a:pPr>
            <a:r>
              <a:rPr lang="en-US" dirty="0"/>
              <a:t>Correctness Validation</a:t>
            </a:r>
          </a:p>
          <a:p>
            <a:pPr marL="0" indent="0">
              <a:buNone/>
            </a:pPr>
            <a:r>
              <a:rPr lang="en-US" dirty="0"/>
              <a:t>Through structured evaluate on of- Model semantics, Real-world alignment.</a:t>
            </a:r>
          </a:p>
          <a:p>
            <a:pPr marL="0" indent="0">
              <a:buNone/>
            </a:pPr>
            <a:r>
              <a:rPr lang="en-US" dirty="0"/>
              <a:t>1. Syntactic Correctness</a:t>
            </a:r>
          </a:p>
          <a:p>
            <a:pPr marL="0" indent="0">
              <a:buNone/>
            </a:pPr>
            <a:r>
              <a:rPr lang="en-US" dirty="0"/>
              <a:t>✓ Proper use of modeling notation (UML, etc.)</a:t>
            </a:r>
          </a:p>
          <a:p>
            <a:pPr marL="0" indent="0">
              <a:buNone/>
            </a:pPr>
            <a:r>
              <a:rPr lang="en-US" dirty="0"/>
              <a:t>✓ Adherence to methodology standards</a:t>
            </a:r>
          </a:p>
          <a:p>
            <a:pPr marL="0" indent="0">
              <a:buNone/>
            </a:pPr>
            <a:r>
              <a:rPr lang="en-US" dirty="0"/>
              <a:t>✓ Formal review of modeling conventions</a:t>
            </a:r>
          </a:p>
          <a:p>
            <a:pPr marL="0" indent="0">
              <a:buNone/>
            </a:pPr>
            <a:r>
              <a:rPr lang="en-US" dirty="0"/>
              <a:t>2. Semantic Correctness</a:t>
            </a:r>
          </a:p>
          <a:p>
            <a:pPr marL="0" indent="0">
              <a:buNone/>
            </a:pPr>
            <a:r>
              <a:rPr lang="en-US" dirty="0"/>
              <a:t>✓ Alignment with real-world domain</a:t>
            </a:r>
          </a:p>
          <a:p>
            <a:pPr marL="0" indent="0">
              <a:buNone/>
            </a:pPr>
            <a:r>
              <a:rPr lang="en-US" dirty="0"/>
              <a:t>✓ Verified by domain experts through : Class definitions/hierarchy review, Relationship validation (instance connections)</a:t>
            </a:r>
            <a:endParaRPr lang="en-NG" dirty="0"/>
          </a:p>
        </p:txBody>
      </p:sp>
    </p:spTree>
    <p:extLst>
      <p:ext uri="{BB962C8B-B14F-4D97-AF65-F5344CB8AC3E}">
        <p14:creationId xmlns:p14="http://schemas.microsoft.com/office/powerpoint/2010/main" val="3081959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19647-046E-6AB9-A16A-9B2E8F49AC49}"/>
              </a:ext>
            </a:extLst>
          </p:cNvPr>
          <p:cNvSpPr>
            <a:spLocks noGrp="1"/>
          </p:cNvSpPr>
          <p:nvPr>
            <p:ph type="title"/>
          </p:nvPr>
        </p:nvSpPr>
        <p:spPr/>
        <p:txBody>
          <a:bodyPr/>
          <a:lstStyle/>
          <a:p>
            <a:r>
              <a:rPr lang="en-US" dirty="0"/>
              <a:t>UNIT TESTING</a:t>
            </a:r>
            <a:endParaRPr lang="en-NG" dirty="0"/>
          </a:p>
        </p:txBody>
      </p:sp>
      <p:sp>
        <p:nvSpPr>
          <p:cNvPr id="3" name="Content Placeholder 2">
            <a:extLst>
              <a:ext uri="{FF2B5EF4-FFF2-40B4-BE49-F238E27FC236}">
                <a16:creationId xmlns:a16="http://schemas.microsoft.com/office/drawing/2014/main" id="{BC05A089-AAD4-A33A-D4C8-2D935CC0DF21}"/>
              </a:ext>
            </a:extLst>
          </p:cNvPr>
          <p:cNvSpPr>
            <a:spLocks noGrp="1"/>
          </p:cNvSpPr>
          <p:nvPr>
            <p:ph idx="1"/>
          </p:nvPr>
        </p:nvSpPr>
        <p:spPr/>
        <p:txBody>
          <a:bodyPr numCol="2">
            <a:normAutofit fontScale="70000" lnSpcReduction="20000"/>
          </a:bodyPr>
          <a:lstStyle/>
          <a:p>
            <a:pPr>
              <a:buFont typeface="Wingdings" panose="05000000000000000000" pitchFamily="2" charset="2"/>
              <a:buChar char="Ø"/>
            </a:pPr>
            <a:r>
              <a:rPr lang="en-US" dirty="0"/>
              <a:t>Unit Testing ("Testing in the Small")</a:t>
            </a:r>
          </a:p>
          <a:p>
            <a:pPr marL="0" indent="0">
              <a:buNone/>
            </a:pPr>
            <a:r>
              <a:rPr lang="en-US" dirty="0"/>
              <a:t>It tests individual classes and methods</a:t>
            </a:r>
          </a:p>
          <a:p>
            <a:pPr marL="0" indent="0">
              <a:buNone/>
            </a:pPr>
            <a:r>
              <a:rPr lang="en-US" dirty="0"/>
              <a:t>This is to verify isolated functionality of classes and methods.</a:t>
            </a:r>
          </a:p>
          <a:p>
            <a:pPr>
              <a:buFont typeface="Wingdings" panose="05000000000000000000" pitchFamily="2" charset="2"/>
              <a:buChar char="Ø"/>
            </a:pPr>
            <a:r>
              <a:rPr lang="en-US" dirty="0"/>
              <a:t>Integration Testing</a:t>
            </a:r>
          </a:p>
          <a:p>
            <a:pPr marL="0" indent="0">
              <a:buNone/>
            </a:pPr>
            <a:r>
              <a:rPr lang="en-US" dirty="0"/>
              <a:t>It tests class collaborations and subsystems</a:t>
            </a:r>
          </a:p>
          <a:p>
            <a:pPr marL="0" indent="0">
              <a:buNone/>
            </a:pPr>
            <a:r>
              <a:rPr lang="en-US" dirty="0"/>
              <a:t>This is for uncovering interface errors.</a:t>
            </a:r>
          </a:p>
          <a:p>
            <a:pPr>
              <a:buFont typeface="Wingdings" panose="05000000000000000000" pitchFamily="2" charset="2"/>
              <a:buChar char="Ø"/>
            </a:pPr>
            <a:r>
              <a:rPr lang="en-US" dirty="0"/>
              <a:t>System Testing ("Testing in the Large")</a:t>
            </a:r>
          </a:p>
          <a:p>
            <a:pPr marL="0" indent="0">
              <a:buNone/>
            </a:pPr>
            <a:r>
              <a:rPr lang="en-US" dirty="0"/>
              <a:t>It tests end-to-end workflows</a:t>
            </a:r>
          </a:p>
          <a:p>
            <a:pPr marL="0" indent="0">
              <a:buNone/>
            </a:pPr>
            <a:r>
              <a:rPr lang="en-US" dirty="0"/>
              <a:t>Goal: Validate against requirements</a:t>
            </a:r>
          </a:p>
          <a:p>
            <a:pPr marL="0" indent="0">
              <a:buNone/>
            </a:pPr>
            <a:endParaRPr lang="en-US" dirty="0"/>
          </a:p>
          <a:p>
            <a:pPr marL="0" indent="0">
              <a:buNone/>
            </a:pPr>
            <a:endParaRPr lang="en-US" dirty="0"/>
          </a:p>
          <a:p>
            <a:pPr marL="0" indent="0">
              <a:buNone/>
            </a:pPr>
            <a:endParaRPr lang="en-US" dirty="0"/>
          </a:p>
          <a:p>
            <a:pPr>
              <a:buFont typeface="Wingdings" panose="05000000000000000000" pitchFamily="2" charset="2"/>
              <a:buChar char="Ø"/>
            </a:pPr>
            <a:r>
              <a:rPr lang="en-US" dirty="0"/>
              <a:t>Unit = Class/Object (not modules/functions)</a:t>
            </a:r>
          </a:p>
          <a:p>
            <a:pPr marL="0" indent="0">
              <a:buNone/>
            </a:pPr>
            <a:r>
              <a:rPr lang="en-US" dirty="0"/>
              <a:t>Driven by encapsulation: Combines attributes + methods</a:t>
            </a:r>
          </a:p>
          <a:p>
            <a:pPr marL="0" indent="0">
              <a:buNone/>
            </a:pPr>
            <a:r>
              <a:rPr lang="en-US" dirty="0"/>
              <a:t>Tests integrated behaviors (not isolated operations)</a:t>
            </a:r>
          </a:p>
          <a:p>
            <a:pPr>
              <a:buFont typeface="Wingdings" panose="05000000000000000000" pitchFamily="2" charset="2"/>
              <a:buChar char="Ø"/>
            </a:pPr>
            <a:r>
              <a:rPr lang="en-US" dirty="0"/>
              <a:t>Why Classes?</a:t>
            </a:r>
          </a:p>
          <a:p>
            <a:pPr marL="0" indent="0">
              <a:buNone/>
            </a:pPr>
            <a:r>
              <a:rPr lang="en-US" dirty="0"/>
              <a:t>Operations are context-dependent on class state</a:t>
            </a:r>
          </a:p>
          <a:p>
            <a:pPr marL="0" indent="0">
              <a:buNone/>
            </a:pPr>
            <a:r>
              <a:rPr lang="en-US" dirty="0"/>
              <a:t>Example:</a:t>
            </a:r>
          </a:p>
          <a:p>
            <a:pPr marL="0" indent="0">
              <a:buNone/>
            </a:pPr>
            <a:r>
              <a:rPr lang="en-US" dirty="0"/>
              <a:t>Finance class can't directly access Sales class data</a:t>
            </a:r>
          </a:p>
          <a:p>
            <a:pPr marL="0" indent="0">
              <a:buNone/>
            </a:pPr>
            <a:r>
              <a:rPr lang="en-US" dirty="0"/>
              <a:t>Requires controlled interaction (like real-world departments)</a:t>
            </a:r>
          </a:p>
          <a:p>
            <a:pPr>
              <a:buFont typeface="Wingdings" panose="05000000000000000000" pitchFamily="2" charset="2"/>
              <a:buChar char="Ø"/>
            </a:pPr>
            <a:r>
              <a:rPr lang="en-US" dirty="0"/>
              <a:t>Implications</a:t>
            </a:r>
          </a:p>
          <a:p>
            <a:pPr marL="0" indent="0">
              <a:buNone/>
            </a:pPr>
            <a:r>
              <a:rPr lang="en-US" dirty="0"/>
              <a:t>Cannot test methods in isolation</a:t>
            </a:r>
          </a:p>
          <a:p>
            <a:pPr marL="0" indent="0">
              <a:buNone/>
            </a:pPr>
            <a:r>
              <a:rPr lang="en-US" dirty="0"/>
              <a:t>Must verify class state before/after operations</a:t>
            </a:r>
            <a:endParaRPr lang="en-NG" dirty="0"/>
          </a:p>
        </p:txBody>
      </p:sp>
    </p:spTree>
    <p:extLst>
      <p:ext uri="{BB962C8B-B14F-4D97-AF65-F5344CB8AC3E}">
        <p14:creationId xmlns:p14="http://schemas.microsoft.com/office/powerpoint/2010/main" val="3634697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F3BDD-A968-8D86-05B0-D9236B5522CC}"/>
              </a:ext>
            </a:extLst>
          </p:cNvPr>
          <p:cNvSpPr>
            <a:spLocks noGrp="1"/>
          </p:cNvSpPr>
          <p:nvPr>
            <p:ph type="title"/>
          </p:nvPr>
        </p:nvSpPr>
        <p:spPr/>
        <p:txBody>
          <a:bodyPr/>
          <a:lstStyle/>
          <a:p>
            <a:r>
              <a:rPr lang="en-US" dirty="0"/>
              <a:t>Integration testing</a:t>
            </a:r>
            <a:endParaRPr lang="en-NG" dirty="0"/>
          </a:p>
        </p:txBody>
      </p:sp>
      <p:sp>
        <p:nvSpPr>
          <p:cNvPr id="3" name="Content Placeholder 2">
            <a:extLst>
              <a:ext uri="{FF2B5EF4-FFF2-40B4-BE49-F238E27FC236}">
                <a16:creationId xmlns:a16="http://schemas.microsoft.com/office/drawing/2014/main" id="{E2521909-5306-9BE1-09E1-408FCCA1425A}"/>
              </a:ext>
            </a:extLst>
          </p:cNvPr>
          <p:cNvSpPr>
            <a:spLocks noGrp="1"/>
          </p:cNvSpPr>
          <p:nvPr>
            <p:ph idx="1"/>
          </p:nvPr>
        </p:nvSpPr>
        <p:spPr/>
        <p:txBody>
          <a:bodyPr numCol="2">
            <a:normAutofit lnSpcReduction="10000"/>
          </a:bodyPr>
          <a:lstStyle/>
          <a:p>
            <a:pPr>
              <a:buFont typeface="Wingdings" panose="05000000000000000000" pitchFamily="2" charset="2"/>
              <a:buChar char="Ø"/>
            </a:pPr>
            <a:r>
              <a:rPr lang="en-US" dirty="0"/>
              <a:t>Challenges in OO Integration:</a:t>
            </a:r>
          </a:p>
          <a:p>
            <a:pPr marL="0" indent="0">
              <a:buNone/>
            </a:pPr>
            <a:r>
              <a:rPr lang="en-US" dirty="0"/>
              <a:t> No hierarchical control → Traditional top-down/bottom-up strategies don't apply</a:t>
            </a:r>
          </a:p>
          <a:p>
            <a:pPr marL="0" indent="0">
              <a:buNone/>
            </a:pPr>
            <a:r>
              <a:rPr lang="en-US" dirty="0"/>
              <a:t> Cannot test operations individually due to class interactions</a:t>
            </a:r>
          </a:p>
          <a:p>
            <a:r>
              <a:rPr lang="en-US" dirty="0"/>
              <a:t>OO-Specific Strategies:</a:t>
            </a:r>
          </a:p>
          <a:p>
            <a:pPr>
              <a:buFont typeface="Wingdings" panose="05000000000000000000" pitchFamily="2" charset="2"/>
              <a:buChar char="Ø"/>
            </a:pPr>
            <a:r>
              <a:rPr lang="en-US" dirty="0"/>
              <a:t>Thread-Based Testing</a:t>
            </a:r>
          </a:p>
          <a:p>
            <a:pPr marL="0" indent="0">
              <a:buNone/>
            </a:pPr>
            <a:r>
              <a:rPr lang="en-US" dirty="0"/>
              <a:t> Tests classes required for one system event/input</a:t>
            </a:r>
          </a:p>
          <a:p>
            <a:pPr marL="0" indent="0">
              <a:buNone/>
            </a:pPr>
            <a:r>
              <a:rPr lang="en-US" dirty="0"/>
              <a:t> Performed thread-by-thread</a:t>
            </a:r>
          </a:p>
          <a:p>
            <a:pPr marL="0" indent="0">
              <a:buNone/>
            </a:pPr>
            <a:r>
              <a:rPr lang="en-US" dirty="0"/>
              <a:t> Includes regression testing</a:t>
            </a:r>
          </a:p>
          <a:p>
            <a:pPr>
              <a:buFont typeface="Wingdings" panose="05000000000000000000" pitchFamily="2" charset="2"/>
              <a:buChar char="Ø"/>
            </a:pPr>
            <a:r>
              <a:rPr lang="en-US" dirty="0"/>
              <a:t>Use-Based Testing</a:t>
            </a:r>
          </a:p>
          <a:p>
            <a:pPr marL="0" indent="0">
              <a:buNone/>
            </a:pPr>
            <a:r>
              <a:rPr lang="en-US" dirty="0"/>
              <a:t> Starts with independent classes (few dependencies)</a:t>
            </a:r>
          </a:p>
          <a:p>
            <a:pPr marL="0" indent="0">
              <a:buNone/>
            </a:pPr>
            <a:r>
              <a:rPr lang="en-US" dirty="0"/>
              <a:t> Progressively adds dependent class layers</a:t>
            </a:r>
          </a:p>
          <a:p>
            <a:pPr marL="0" indent="0">
              <a:buNone/>
            </a:pPr>
            <a:r>
              <a:rPr lang="en-US" dirty="0"/>
              <a:t> Avoids drivers/stubs when possible</a:t>
            </a:r>
          </a:p>
          <a:p>
            <a:pPr>
              <a:buFont typeface="Wingdings" panose="05000000000000000000" pitchFamily="2" charset="2"/>
              <a:buChar char="Ø"/>
            </a:pPr>
            <a:r>
              <a:rPr lang="en-US" dirty="0"/>
              <a:t>Cluster Testing</a:t>
            </a:r>
          </a:p>
          <a:p>
            <a:pPr marL="0" indent="0">
              <a:buNone/>
            </a:pPr>
            <a:r>
              <a:rPr lang="en-US" dirty="0"/>
              <a:t> Tests collaborating class groups</a:t>
            </a:r>
          </a:p>
          <a:p>
            <a:pPr marL="0" indent="0">
              <a:buNone/>
            </a:pPr>
            <a:r>
              <a:rPr lang="en-US" dirty="0"/>
              <a:t> Focuses on interaction errors</a:t>
            </a:r>
            <a:endParaRPr lang="en-NG" dirty="0"/>
          </a:p>
        </p:txBody>
      </p:sp>
    </p:spTree>
    <p:extLst>
      <p:ext uri="{BB962C8B-B14F-4D97-AF65-F5344CB8AC3E}">
        <p14:creationId xmlns:p14="http://schemas.microsoft.com/office/powerpoint/2010/main" val="97457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9CB07-705E-5D24-D477-B53A66F1A2B5}"/>
              </a:ext>
            </a:extLst>
          </p:cNvPr>
          <p:cNvSpPr>
            <a:spLocks noGrp="1"/>
          </p:cNvSpPr>
          <p:nvPr>
            <p:ph type="title"/>
          </p:nvPr>
        </p:nvSpPr>
        <p:spPr/>
        <p:txBody>
          <a:bodyPr/>
          <a:lstStyle/>
          <a:p>
            <a:r>
              <a:rPr lang="en-US" dirty="0"/>
              <a:t>Validation test and test case design implementation</a:t>
            </a:r>
            <a:endParaRPr lang="en-NG" dirty="0"/>
          </a:p>
        </p:txBody>
      </p:sp>
      <p:sp>
        <p:nvSpPr>
          <p:cNvPr id="3" name="Content Placeholder 2">
            <a:extLst>
              <a:ext uri="{FF2B5EF4-FFF2-40B4-BE49-F238E27FC236}">
                <a16:creationId xmlns:a16="http://schemas.microsoft.com/office/drawing/2014/main" id="{68B1721D-BA1F-973D-B06D-8AF2FDF9C949}"/>
              </a:ext>
            </a:extLst>
          </p:cNvPr>
          <p:cNvSpPr>
            <a:spLocks noGrp="1"/>
          </p:cNvSpPr>
          <p:nvPr>
            <p:ph idx="1"/>
          </p:nvPr>
        </p:nvSpPr>
        <p:spPr/>
        <p:txBody>
          <a:bodyPr numCol="2">
            <a:normAutofit fontScale="92500"/>
          </a:bodyPr>
          <a:lstStyle/>
          <a:p>
            <a:pPr>
              <a:buFont typeface="Wingdings" panose="05000000000000000000" pitchFamily="2" charset="2"/>
              <a:buChar char="Ø"/>
            </a:pPr>
            <a:r>
              <a:rPr lang="en-US" dirty="0"/>
              <a:t>The Validation of OO software focuses on user-visible actions and user recognizable outputs from the system.</a:t>
            </a:r>
          </a:p>
          <a:p>
            <a:pPr>
              <a:buFont typeface="Wingdings" panose="05000000000000000000" pitchFamily="2" charset="2"/>
              <a:buChar char="Ø"/>
            </a:pPr>
            <a:r>
              <a:rPr lang="en-US" dirty="0"/>
              <a:t>While encapsulation is a fundamental strength of object-oriented design, it creates testing difficulties because:</a:t>
            </a:r>
          </a:p>
          <a:p>
            <a:pPr marL="0" indent="0">
              <a:buNone/>
            </a:pPr>
            <a:r>
              <a:rPr lang="en-US" dirty="0"/>
              <a:t>Class attributes and state are hidden by design</a:t>
            </a:r>
          </a:p>
          <a:p>
            <a:pPr marL="0" indent="0">
              <a:buNone/>
            </a:pPr>
            <a:r>
              <a:rPr lang="en-US" dirty="0"/>
              <a:t>Testers need visibility into object state to verify correctness</a:t>
            </a:r>
          </a:p>
          <a:p>
            <a:pPr marL="0" indent="0">
              <a:buNone/>
            </a:pPr>
            <a:r>
              <a:rPr lang="en-US" dirty="0"/>
              <a:t>Without built-in state-reporting methods, verifying object internals requires workarounds</a:t>
            </a:r>
          </a:p>
          <a:p>
            <a:pPr>
              <a:buFont typeface="Wingdings" panose="05000000000000000000" pitchFamily="2" charset="2"/>
              <a:buChar char="Ø"/>
            </a:pPr>
            <a:endParaRPr lang="en-US" dirty="0"/>
          </a:p>
          <a:p>
            <a:pPr>
              <a:buFont typeface="Wingdings" panose="05000000000000000000" pitchFamily="2" charset="2"/>
              <a:buChar char="Ø"/>
            </a:pPr>
            <a:r>
              <a:rPr lang="en-US" dirty="0"/>
              <a:t>Key takeaways:</a:t>
            </a:r>
          </a:p>
          <a:p>
            <a:pPr>
              <a:buFont typeface="Wingdings" panose="05000000000000000000" pitchFamily="2" charset="2"/>
              <a:buChar char="§"/>
            </a:pPr>
            <a:r>
              <a:rPr lang="en-US" dirty="0"/>
              <a:t>Testing requires access to object state that encapsulation intentionally hides</a:t>
            </a:r>
          </a:p>
          <a:p>
            <a:pPr>
              <a:buFont typeface="Wingdings" panose="05000000000000000000" pitchFamily="2" charset="2"/>
              <a:buChar char="§"/>
            </a:pPr>
            <a:r>
              <a:rPr lang="en-US" dirty="0"/>
              <a:t>Developers must balance encapsulation needs with testability</a:t>
            </a:r>
          </a:p>
          <a:p>
            <a:pPr>
              <a:buFont typeface="Wingdings" panose="05000000000000000000" pitchFamily="2" charset="2"/>
              <a:buChar char="§"/>
            </a:pPr>
            <a:r>
              <a:rPr lang="en-US" dirty="0"/>
              <a:t>Solutions include adding controlled state-reporting methods or using debugging tools</a:t>
            </a:r>
          </a:p>
          <a:p>
            <a:pPr>
              <a:buFont typeface="Wingdings" panose="05000000000000000000" pitchFamily="2" charset="2"/>
              <a:buChar char="Ø"/>
            </a:pPr>
            <a:endParaRPr lang="en-NG" dirty="0"/>
          </a:p>
        </p:txBody>
      </p:sp>
    </p:spTree>
    <p:extLst>
      <p:ext uri="{BB962C8B-B14F-4D97-AF65-F5344CB8AC3E}">
        <p14:creationId xmlns:p14="http://schemas.microsoft.com/office/powerpoint/2010/main" val="3283782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C668B-8A8C-46D5-EFD8-B3A146A48984}"/>
              </a:ext>
            </a:extLst>
          </p:cNvPr>
          <p:cNvSpPr>
            <a:spLocks noGrp="1"/>
          </p:cNvSpPr>
          <p:nvPr>
            <p:ph type="title"/>
          </p:nvPr>
        </p:nvSpPr>
        <p:spPr/>
        <p:txBody>
          <a:bodyPr/>
          <a:lstStyle/>
          <a:p>
            <a:r>
              <a:rPr lang="en-US" dirty="0"/>
              <a:t>Challenges with inheritance </a:t>
            </a:r>
            <a:r>
              <a:rPr lang="en-US"/>
              <a:t>testing </a:t>
            </a:r>
            <a:endParaRPr lang="en-NG" dirty="0"/>
          </a:p>
        </p:txBody>
      </p:sp>
      <p:sp>
        <p:nvSpPr>
          <p:cNvPr id="3" name="Content Placeholder 2">
            <a:extLst>
              <a:ext uri="{FF2B5EF4-FFF2-40B4-BE49-F238E27FC236}">
                <a16:creationId xmlns:a16="http://schemas.microsoft.com/office/drawing/2014/main" id="{272F101E-461D-45E4-A5B2-F19E336F5E8B}"/>
              </a:ext>
            </a:extLst>
          </p:cNvPr>
          <p:cNvSpPr>
            <a:spLocks noGrp="1"/>
          </p:cNvSpPr>
          <p:nvPr>
            <p:ph idx="1"/>
          </p:nvPr>
        </p:nvSpPr>
        <p:spPr/>
        <p:txBody>
          <a:bodyPr numCol="2">
            <a:normAutofit/>
          </a:bodyPr>
          <a:lstStyle/>
          <a:p>
            <a:pPr>
              <a:buFont typeface="Wingdings" panose="05000000000000000000" pitchFamily="2" charset="2"/>
              <a:buChar char="Ø"/>
            </a:pPr>
            <a:r>
              <a:rPr lang="en-US" dirty="0"/>
              <a:t>Context-Specific Retesting Required</a:t>
            </a:r>
          </a:p>
          <a:p>
            <a:r>
              <a:rPr lang="en-US" dirty="0"/>
              <a:t>Each new inheritance context demands retesting</a:t>
            </a:r>
          </a:p>
          <a:p>
            <a:r>
              <a:rPr lang="en-US" dirty="0"/>
              <a:t>Reused code behaves differently in new hierarchies</a:t>
            </a:r>
          </a:p>
          <a:p>
            <a:pPr>
              <a:buFont typeface="Wingdings" panose="05000000000000000000" pitchFamily="2" charset="2"/>
              <a:buChar char="Ø"/>
            </a:pPr>
            <a:r>
              <a:rPr lang="en-US" dirty="0"/>
              <a:t>Multiple Inheritance Complexity</a:t>
            </a:r>
          </a:p>
          <a:p>
            <a:r>
              <a:rPr lang="en-US" dirty="0"/>
              <a:t>Exponentially increases testing contexts</a:t>
            </a:r>
          </a:p>
          <a:p>
            <a:r>
              <a:rPr lang="en-US" dirty="0"/>
              <a:t>Creates more interaction scenarios to verify</a:t>
            </a:r>
          </a:p>
          <a:p>
            <a:pPr>
              <a:buFont typeface="Wingdings" panose="05000000000000000000" pitchFamily="2" charset="2"/>
              <a:buChar char="Ø"/>
            </a:pPr>
            <a:r>
              <a:rPr lang="en-US" dirty="0"/>
              <a:t>Testing Approach Compatibility</a:t>
            </a:r>
          </a:p>
          <a:p>
            <a:r>
              <a:rPr lang="en-US" dirty="0"/>
              <a:t>Black-box methods remain valid for OO systems</a:t>
            </a:r>
          </a:p>
          <a:p>
            <a:r>
              <a:rPr lang="en-US" dirty="0"/>
              <a:t>Conventional testing techniques still apply</a:t>
            </a:r>
            <a:endParaRPr lang="en-NG" dirty="0"/>
          </a:p>
        </p:txBody>
      </p:sp>
    </p:spTree>
    <p:extLst>
      <p:ext uri="{BB962C8B-B14F-4D97-AF65-F5344CB8AC3E}">
        <p14:creationId xmlns:p14="http://schemas.microsoft.com/office/powerpoint/2010/main" val="2841974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B64B-C559-2A40-E6A5-9C022FAE516A}"/>
              </a:ext>
            </a:extLst>
          </p:cNvPr>
          <p:cNvSpPr>
            <a:spLocks noGrp="1"/>
          </p:cNvSpPr>
          <p:nvPr>
            <p:ph type="title"/>
          </p:nvPr>
        </p:nvSpPr>
        <p:spPr/>
        <p:txBody>
          <a:bodyPr/>
          <a:lstStyle/>
          <a:p>
            <a:r>
              <a:rPr lang="en-US" dirty="0"/>
              <a:t>Fault based and scenario based testing</a:t>
            </a:r>
            <a:endParaRPr lang="en-NG" dirty="0"/>
          </a:p>
        </p:txBody>
      </p:sp>
      <p:sp>
        <p:nvSpPr>
          <p:cNvPr id="3" name="Content Placeholder 2">
            <a:extLst>
              <a:ext uri="{FF2B5EF4-FFF2-40B4-BE49-F238E27FC236}">
                <a16:creationId xmlns:a16="http://schemas.microsoft.com/office/drawing/2014/main" id="{8084081F-CF20-A87B-0A2E-D079DB3F2482}"/>
              </a:ext>
            </a:extLst>
          </p:cNvPr>
          <p:cNvSpPr>
            <a:spLocks noGrp="1"/>
          </p:cNvSpPr>
          <p:nvPr>
            <p:ph idx="1"/>
          </p:nvPr>
        </p:nvSpPr>
        <p:spPr/>
        <p:txBody>
          <a:bodyPr numCol="2"/>
          <a:lstStyle/>
          <a:p>
            <a:pPr>
              <a:buFont typeface="Wingdings" panose="05000000000000000000" pitchFamily="2" charset="2"/>
              <a:buChar char="Ø"/>
            </a:pPr>
            <a:r>
              <a:rPr lang="en-US" dirty="0"/>
              <a:t>Fault based testing focuses on technical implementation and misses incorrect specifications and </a:t>
            </a:r>
            <a:r>
              <a:rPr lang="en-US" dirty="0" err="1"/>
              <a:t>interractions</a:t>
            </a:r>
            <a:r>
              <a:rPr lang="en-US" dirty="0"/>
              <a:t> among subsystems</a:t>
            </a:r>
          </a:p>
          <a:p>
            <a:endParaRPr lang="en-US" dirty="0"/>
          </a:p>
          <a:p>
            <a:endParaRPr lang="en-US" dirty="0"/>
          </a:p>
          <a:p>
            <a:endParaRPr lang="en-US" dirty="0"/>
          </a:p>
          <a:p>
            <a:endParaRPr lang="en-US" dirty="0"/>
          </a:p>
          <a:p>
            <a:pPr marL="0" indent="0">
              <a:buNone/>
            </a:pPr>
            <a:endParaRPr lang="en-US" dirty="0"/>
          </a:p>
          <a:p>
            <a:pPr>
              <a:buFont typeface="Wingdings" panose="05000000000000000000" pitchFamily="2" charset="2"/>
              <a:buChar char="Ø"/>
            </a:pPr>
            <a:r>
              <a:rPr lang="en-US" dirty="0"/>
              <a:t>Scenario based testing focuses on what the user does and is capable of catching interaction errors at the trade off of having more complex test cases</a:t>
            </a:r>
            <a:endParaRPr lang="en-NG" dirty="0"/>
          </a:p>
        </p:txBody>
      </p:sp>
    </p:spTree>
    <p:extLst>
      <p:ext uri="{BB962C8B-B14F-4D97-AF65-F5344CB8AC3E}">
        <p14:creationId xmlns:p14="http://schemas.microsoft.com/office/powerpoint/2010/main" val="29163524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97</TotalTime>
  <Words>899</Words>
  <Application>Microsoft Office PowerPoint</Application>
  <PresentationFormat>Widescreen</PresentationFormat>
  <Paragraphs>110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Tw Cen MT</vt:lpstr>
      <vt:lpstr>Tw Cen MT Condensed</vt:lpstr>
      <vt:lpstr>Wingdings</vt:lpstr>
      <vt:lpstr>Wingdings 3</vt:lpstr>
      <vt:lpstr>Integral</vt:lpstr>
      <vt:lpstr>Testing OOP</vt:lpstr>
      <vt:lpstr>Introduction</vt:lpstr>
      <vt:lpstr>Cont.</vt:lpstr>
      <vt:lpstr>PowerPoint Presentation</vt:lpstr>
      <vt:lpstr>Testing OOD and OOA and correctness</vt:lpstr>
      <vt:lpstr>UNIT TESTING</vt:lpstr>
      <vt:lpstr>Integration testing</vt:lpstr>
      <vt:lpstr>Validation test and test case design implementation</vt:lpstr>
      <vt:lpstr>Challenges with inheritance testing </vt:lpstr>
      <vt:lpstr>Fault based and scenario based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Ademola Afolabi</dc:creator>
  <cp:lastModifiedBy>Ademola Afolabi</cp:lastModifiedBy>
  <cp:revision>1</cp:revision>
  <dcterms:created xsi:type="dcterms:W3CDTF">2025-05-14T10:18:33Z</dcterms:created>
  <dcterms:modified xsi:type="dcterms:W3CDTF">2025-05-14T11:55:53Z</dcterms:modified>
</cp:coreProperties>
</file>